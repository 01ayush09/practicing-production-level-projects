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D68910"/>
              </a:solidFill>
              <a:effectLst/>
            </c:spPr>
          </c:dPt>
          <c:dPt>
            <c:idx val="2"/>
            <c:bubble3D val="0"/>
            <c:spPr>
              <a:solidFill>
                <a:srgbClr val="1E844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Red</c:v>
                </c:pt>
                <c:pt idx="1">
                  <c:v>Amber</c:v>
                </c:pt>
                <c:pt idx="2">
                  <c:v>Green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Cascade Vendor Onboarding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 1 (June 5)</c:v>
                  </c:pt>
                  <c:pt idx="1">
                    <c:v>Wk 2 (June 12)</c:v>
                  </c:pt>
                  <c:pt idx="2">
                    <c:v>Wk 3 (June 19)</c:v>
                  </c:pt>
                  <c:pt idx="3">
                    <c:v>Wk 4 (June 26)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Helix ERP Rollout</c:v>
                </c:pt>
              </c:strCache>
            </c:strRef>
          </c:tx>
          <c:spPr>
            <a:solidFill>
              <a:srgbClr val="1E8449"/>
            </a:solidFill>
            <a:ln w="38100" cap="flat">
              <a:solidFill>
                <a:srgbClr val="1E84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 1 (June 5)</c:v>
                  </c:pt>
                  <c:pt idx="1">
                    <c:v>Wk 2 (June 12)</c:v>
                  </c:pt>
                  <c:pt idx="2">
                    <c:v>Wk 3 (June 19)</c:v>
                  </c:pt>
                  <c:pt idx="3">
                    <c:v>Wk 4 (June 26)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Meridian Data Migration</c:v>
                </c:pt>
              </c:strCache>
            </c:strRef>
          </c:tx>
          <c:spPr>
            <a:solidFill>
              <a:srgbClr val="D68910"/>
            </a:solidFill>
            <a:ln w="38100" cap="flat">
              <a:solidFill>
                <a:srgbClr val="D6891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68910"/>
              </a:solidFill>
              <a:ln w="9525" cap="flat">
                <a:solidFill>
                  <a:srgbClr val="D6891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 1 (June 5)</c:v>
                  </c:pt>
                  <c:pt idx="1">
                    <c:v>Wk 2 (June 12)</c:v>
                  </c:pt>
                  <c:pt idx="2">
                    <c:v>Wk 3 (June 19)</c:v>
                  </c:pt>
                  <c:pt idx="3">
                    <c:v>Wk 4 (June 26)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E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E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B3A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Portfolio Health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— Client Program Portfolio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June 5, 2026 – June 26, 2026   |   Prepared for: Executive Sponsor 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4-WEEK DATASET (real client engagements below were single-snapshot exports; see README)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</a:rPr>
              <a:t>Where the portfolio stands as of the latest reporting week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463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40680" y="1536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40680" y="2029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in Portfolio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12080" y="2606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40680" y="2679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(Meridian Data Migration)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40680" y="3172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This Month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3749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3822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(Helix ERP Rollout)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40680" y="4315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This Month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4892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40680" y="4965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12 project-weeks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40680" y="54589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w/ Negative Client Sentiment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Analysis: Direction Matters More Than a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E69"/>
                </a:solidFill>
              </a:rPr>
              <a:t>RAG trajectory across the last 4 weekly reporting cycles (2 = Green, 1 = Amber, 0 = Red)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6" name="Shape 3"/>
          <p:cNvSpPr/>
          <p:nvPr/>
        </p:nvSpPr>
        <p:spPr>
          <a:xfrm>
            <a:off x="7726680" y="1581912"/>
            <a:ext cx="164592" cy="164592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Cascade Vendor Onboarding — Stable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26680" y="1828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</a:rPr>
              <a:t>Trajectory: Amber → Amber → Amber → Amber. Held steady across all 4 reporting weeks at Amber.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88036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7726680" y="3044952"/>
            <a:ext cx="164592" cy="16459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Helix ERP Rollout — Recovering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32918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</a:rPr>
              <a:t>Trajectory: Red → Amber → Amber → Green. Recovered after corrective action; now Green.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43800" y="434340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14" name="Shape 11"/>
          <p:cNvSpPr/>
          <p:nvPr/>
        </p:nvSpPr>
        <p:spPr>
          <a:xfrm>
            <a:off x="7726680" y="450799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Meridian Data Migration — Declining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26680" y="47548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</a:rPr>
              <a:t>Trajectory: Green → Amber → Amber → Red. Critical milestone(s) late: Environment Build, Connector Cutover Readiness Review.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Risks Across the Portfolio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</a:rPr>
              <a:t>Patterns that would be missed by reviewing each project in isolation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59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Third-Party / Resourcing Dependency Risk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3 of 3 active projects hit a dependency-related blocker this month — vendor/third-party dependency (Cascade Vendor Onboarding, Meridian Data Migration); resourcing/ownership gap (Helix ERP Rollout). Different root causes, same pattern: this is a portfolio-level delivery risk, not a one-off, and worth a standing vendor/resourcing escalation path rather than per-project firefighting.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BEF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4061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3246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Overspend Correlates With Schedule Slip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6118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Meridian Data Migration's budget burn reached 135% of plan in the week ending 2026-06-26, the same week its overall status was Red — spend accelerating to chase a slipping date typically front-loads cost without recovering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50063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45920" y="4846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Sentiment Is a Leading Indicator, Not a Lagging 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52120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On Meridian Data Migration, client sentiment turned negative in the week ending 2026-06-12, 2 week(s) before the status flipped to Red on 2026-06-26. Treating sentiment dips as an early-warning trigger — not just a symptom — would buy real lead time portfolio-wide.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Meridian Data Migration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052560" y="411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0" y="411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STATUS: RED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Schedule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22529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Critical milestone(s) late: Environment Build, Connector Cutover Readiness Review.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Budget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8470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Spend is 135% of planned — significantly overspending.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6946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Milestones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468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2 milestones are overdue: Environment Build, Connector Cutover Readiness Review.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18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Blockers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0906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Critical blocker(s) open: Critical: vendor unable to deliver API access, now directly blocking cutover readiness.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813048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39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Sentiment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71246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Stakeholder tone is negative and worsening.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B3A8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Bottom line for the client conversation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Critical milestone(s) late: Environment Build, Connector Cutover Readiness Review. This requires executive-level attention this cycle — Escalate the open blocker(s) to the steering committee this week; they are the primary driver of risk.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</a:rPr>
              <a:t>Actions for this coming month, in priority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Address the Meridian Data Migration schedule issue this 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Critical milestone(s) late: Environment Build, Connector Cutover Readiness Review.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Act on: Third-Party / Resourcing Dependency Risk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3 of 3 active projects hit a dependency-related blocker this month — vendor/third-party dependency (Cascade Vendor Onboarding, Meridian Data Migration); resourcing/ownership gap (Helix ERP Rollout). Different root causes, same pattern: this is a portfolio-level delivery risk, not a one-off, and worth a standing vendor/resourcing escalation path rather than per-project firefighting.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Act on: Overspend Correlates With Schedule Slip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Meridian Data Migration's budget burn reached 135% of plan in the week ending 2026-06-26, the same week its overall status was Red — spend accelerating to chase a slipping date typically front-loads cost without recovering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389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Act on: Sentiment Is a Leading Indicator, Not a Lagging One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754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On Meridian Data Migration, client sentiment turned negative in the week ending 2026-06-12, 2 week(s) before the status flipped to Red on 2026-06-26. Treating sentiment dips as an early-warning trigger — not just a symptom — would buy real lead time portfolio-wide.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5349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Use Helix ERP Rollout's recovery as an internal playbook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715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9"/>
                </a:solidFill>
              </a:rPr>
              <a:t>Document what specifically reversed the decline so other PMs facing similar risk patterns can apply it faster.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How RAG Status Is Determined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E69"/>
                </a:solidFill>
              </a:rPr>
              <a:t>Automated weekly scoring across five weighted signals, with escalation overrides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Schedule (25%)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% of tasks past their planned date; any late critical milestone forces 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98064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35224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Budget (20%)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35224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Actual vs. planned spend-to-date. Green 90–110%, Amber 70–90% / 110–130%, Red beyond that.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38928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76088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Milestones (25%)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76088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Overdue milestones and those due within 2 weeks flagged at risk.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79792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16952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Blockers (20%)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16952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Count, severity, and age of open blockers; any critical or 14+ day blocker escalates.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0656" y="1508760"/>
            <a:ext cx="2212848" cy="27432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57816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Sentiment (10%)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57816" y="2240280"/>
            <a:ext cx="193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</a:rPr>
              <a:t>PM/client narrative tone and week-over-week trend, classified automatically.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E69"/>
                </a:solidFill>
              </a:rPr>
              <a:t>Missing data is never treated as automatically Green — it is scored Amber and flagged for follow-up. Critical blockers or 2+ overdue milestones override the weighted score and force Red regardless of other signals.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</a:rPr>
              <a:t>Full methodology: RAG_METHODOLOGY.md  |  Agent source: /agent  |  Weekly reports: /outputs/weekly_demo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Portfolio Health Review</dc:title>
  <dc:subject>PptxGenJS Presentation</dc:subject>
  <dc:creator>Professional Services PMO</dc:creator>
  <cp:lastModifiedBy>Professional Services PMO</cp:lastModifiedBy>
  <cp:revision>1</cp:revision>
  <dcterms:created xsi:type="dcterms:W3CDTF">2026-07-10T11:20:51Z</dcterms:created>
  <dcterms:modified xsi:type="dcterms:W3CDTF">2026-07-10T11:20:51Z</dcterms:modified>
</cp:coreProperties>
</file>